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3" r:id="rId7"/>
    <p:sldId id="269" r:id="rId8"/>
    <p:sldId id="264" r:id="rId9"/>
    <p:sldId id="267" r:id="rId10"/>
    <p:sldId id="27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58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264" y="4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AFF082-7469-44E8-B08E-3411C8E72D5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E432CE4B-D023-418E-9339-E2C8D53EAB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Llamadas seguras</a:t>
          </a:r>
        </a:p>
      </dgm:t>
    </dgm:pt>
    <dgm:pt modelId="{B0900D95-C818-40AD-80CA-6CCFB2F3B4AF}" type="parTrans" cxnId="{72472F1B-9E36-41A2-B56C-768E0B7FF105}">
      <dgm:prSet/>
      <dgm:spPr/>
      <dgm:t>
        <a:bodyPr/>
        <a:lstStyle/>
        <a:p>
          <a:endParaRPr lang="en-US"/>
        </a:p>
      </dgm:t>
    </dgm:pt>
    <dgm:pt modelId="{BD890385-29C7-4E51-BD37-441D612BC2A3}" type="sibTrans" cxnId="{72472F1B-9E36-41A2-B56C-768E0B7FF105}">
      <dgm:prSet/>
      <dgm:spPr/>
      <dgm:t>
        <a:bodyPr/>
        <a:lstStyle/>
        <a:p>
          <a:endParaRPr lang="en-US"/>
        </a:p>
      </dgm:t>
    </dgm:pt>
    <dgm:pt modelId="{E2BE79CC-7ADC-4498-BA8A-5A02F5E7CF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Chat cifrado</a:t>
          </a:r>
        </a:p>
      </dgm:t>
    </dgm:pt>
    <dgm:pt modelId="{5B231054-7B74-4FA6-BC82-EB7CA185EE25}" type="parTrans" cxnId="{2395E8A2-DC8C-4FFE-8A3E-357EF6A3737E}">
      <dgm:prSet/>
      <dgm:spPr/>
      <dgm:t>
        <a:bodyPr/>
        <a:lstStyle/>
        <a:p>
          <a:endParaRPr lang="en-US"/>
        </a:p>
      </dgm:t>
    </dgm:pt>
    <dgm:pt modelId="{D54B190D-A7DE-4E8C-B61C-C07C6B8D809B}" type="sibTrans" cxnId="{2395E8A2-DC8C-4FFE-8A3E-357EF6A3737E}">
      <dgm:prSet/>
      <dgm:spPr/>
      <dgm:t>
        <a:bodyPr/>
        <a:lstStyle/>
        <a:p>
          <a:endParaRPr lang="en-US"/>
        </a:p>
      </dgm:t>
    </dgm:pt>
    <dgm:pt modelId="{9A15ED74-2D38-4EFC-AC60-F1A80E37DA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Distorsionador de voz</a:t>
          </a:r>
        </a:p>
      </dgm:t>
    </dgm:pt>
    <dgm:pt modelId="{4CAC88E0-8B82-4FD3-8A2E-378FD9429C99}" type="parTrans" cxnId="{C4057EEF-CBFC-44C4-A8A9-E7949749BE50}">
      <dgm:prSet/>
      <dgm:spPr/>
      <dgm:t>
        <a:bodyPr/>
        <a:lstStyle/>
        <a:p>
          <a:endParaRPr lang="en-US"/>
        </a:p>
      </dgm:t>
    </dgm:pt>
    <dgm:pt modelId="{460AFCD3-8690-4ABD-8EB5-369CE7ED4470}" type="sibTrans" cxnId="{C4057EEF-CBFC-44C4-A8A9-E7949749BE50}">
      <dgm:prSet/>
      <dgm:spPr/>
      <dgm:t>
        <a:bodyPr/>
        <a:lstStyle/>
        <a:p>
          <a:endParaRPr lang="en-US"/>
        </a:p>
      </dgm:t>
    </dgm:pt>
    <dgm:pt modelId="{3EEB3A46-CFF7-4028-A3AC-6114066E6CBD}" type="pres">
      <dgm:prSet presAssocID="{6BAFF082-7469-44E8-B08E-3411C8E72D58}" presName="root" presStyleCnt="0">
        <dgm:presLayoutVars>
          <dgm:dir/>
          <dgm:resizeHandles val="exact"/>
        </dgm:presLayoutVars>
      </dgm:prSet>
      <dgm:spPr/>
    </dgm:pt>
    <dgm:pt modelId="{34316EEE-07D9-4F6B-9968-BEC40A1DE9C4}" type="pres">
      <dgm:prSet presAssocID="{E432CE4B-D023-418E-9339-E2C8D53EAB0F}" presName="compNode" presStyleCnt="0"/>
      <dgm:spPr/>
    </dgm:pt>
    <dgm:pt modelId="{2499C738-EB96-4ACF-A037-A826C976E7C6}" type="pres">
      <dgm:prSet presAssocID="{E432CE4B-D023-418E-9339-E2C8D53EAB0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aker Phone"/>
        </a:ext>
      </dgm:extLst>
    </dgm:pt>
    <dgm:pt modelId="{F00C4F64-1023-4FCC-B4C4-9A523890B785}" type="pres">
      <dgm:prSet presAssocID="{E432CE4B-D023-418E-9339-E2C8D53EAB0F}" presName="spaceRect" presStyleCnt="0"/>
      <dgm:spPr/>
    </dgm:pt>
    <dgm:pt modelId="{02B17A83-001F-446F-B398-53AB9C673B75}" type="pres">
      <dgm:prSet presAssocID="{E432CE4B-D023-418E-9339-E2C8D53EAB0F}" presName="textRect" presStyleLbl="revTx" presStyleIdx="0" presStyleCnt="3">
        <dgm:presLayoutVars>
          <dgm:chMax val="1"/>
          <dgm:chPref val="1"/>
        </dgm:presLayoutVars>
      </dgm:prSet>
      <dgm:spPr/>
    </dgm:pt>
    <dgm:pt modelId="{C4D8816E-04FA-4B09-A121-8EF2895968BA}" type="pres">
      <dgm:prSet presAssocID="{BD890385-29C7-4E51-BD37-441D612BC2A3}" presName="sibTrans" presStyleCnt="0"/>
      <dgm:spPr/>
    </dgm:pt>
    <dgm:pt modelId="{603CF2D1-F564-4DD9-97F9-CE153945952A}" type="pres">
      <dgm:prSet presAssocID="{E2BE79CC-7ADC-4498-BA8A-5A02F5E7CF0B}" presName="compNode" presStyleCnt="0"/>
      <dgm:spPr/>
    </dgm:pt>
    <dgm:pt modelId="{EDC77949-9DBE-416A-B64A-D70829CB8341}" type="pres">
      <dgm:prSet presAssocID="{E2BE79CC-7ADC-4498-BA8A-5A02F5E7CF0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ve"/>
        </a:ext>
      </dgm:extLst>
    </dgm:pt>
    <dgm:pt modelId="{EB0F8D3D-D81E-4E0E-A769-883B332AE74D}" type="pres">
      <dgm:prSet presAssocID="{E2BE79CC-7ADC-4498-BA8A-5A02F5E7CF0B}" presName="spaceRect" presStyleCnt="0"/>
      <dgm:spPr/>
    </dgm:pt>
    <dgm:pt modelId="{983FAEBD-1A32-4750-B335-F5F961A97CF0}" type="pres">
      <dgm:prSet presAssocID="{E2BE79CC-7ADC-4498-BA8A-5A02F5E7CF0B}" presName="textRect" presStyleLbl="revTx" presStyleIdx="1" presStyleCnt="3">
        <dgm:presLayoutVars>
          <dgm:chMax val="1"/>
          <dgm:chPref val="1"/>
        </dgm:presLayoutVars>
      </dgm:prSet>
      <dgm:spPr/>
    </dgm:pt>
    <dgm:pt modelId="{5EAF5F4D-834E-423C-A03E-CEB40F263D52}" type="pres">
      <dgm:prSet presAssocID="{D54B190D-A7DE-4E8C-B61C-C07C6B8D809B}" presName="sibTrans" presStyleCnt="0"/>
      <dgm:spPr/>
    </dgm:pt>
    <dgm:pt modelId="{5245C7F0-EF08-4576-B0B5-3DED3AE2B7A8}" type="pres">
      <dgm:prSet presAssocID="{9A15ED74-2D38-4EFC-AC60-F1A80E37DA6B}" presName="compNode" presStyleCnt="0"/>
      <dgm:spPr/>
    </dgm:pt>
    <dgm:pt modelId="{50BD5711-165F-4CA5-8886-C55F55B0302C}" type="pres">
      <dgm:prSet presAssocID="{9A15ED74-2D38-4EFC-AC60-F1A80E37DA6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ófono"/>
        </a:ext>
      </dgm:extLst>
    </dgm:pt>
    <dgm:pt modelId="{69794354-5F4F-4D3F-AE5F-F97E0BC34294}" type="pres">
      <dgm:prSet presAssocID="{9A15ED74-2D38-4EFC-AC60-F1A80E37DA6B}" presName="spaceRect" presStyleCnt="0"/>
      <dgm:spPr/>
    </dgm:pt>
    <dgm:pt modelId="{23AF3A66-BD78-4E10-9201-746440AC5A3C}" type="pres">
      <dgm:prSet presAssocID="{9A15ED74-2D38-4EFC-AC60-F1A80E37DA6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2472F1B-9E36-41A2-B56C-768E0B7FF105}" srcId="{6BAFF082-7469-44E8-B08E-3411C8E72D58}" destId="{E432CE4B-D023-418E-9339-E2C8D53EAB0F}" srcOrd="0" destOrd="0" parTransId="{B0900D95-C818-40AD-80CA-6CCFB2F3B4AF}" sibTransId="{BD890385-29C7-4E51-BD37-441D612BC2A3}"/>
    <dgm:cxn modelId="{730EE432-50D6-8D44-A244-30450E52AA36}" type="presOf" srcId="{9A15ED74-2D38-4EFC-AC60-F1A80E37DA6B}" destId="{23AF3A66-BD78-4E10-9201-746440AC5A3C}" srcOrd="0" destOrd="0" presId="urn:microsoft.com/office/officeart/2018/2/layout/IconLabelList"/>
    <dgm:cxn modelId="{2395E8A2-DC8C-4FFE-8A3E-357EF6A3737E}" srcId="{6BAFF082-7469-44E8-B08E-3411C8E72D58}" destId="{E2BE79CC-7ADC-4498-BA8A-5A02F5E7CF0B}" srcOrd="1" destOrd="0" parTransId="{5B231054-7B74-4FA6-BC82-EB7CA185EE25}" sibTransId="{D54B190D-A7DE-4E8C-B61C-C07C6B8D809B}"/>
    <dgm:cxn modelId="{57AF8AC4-90FD-A14D-8521-9FD693077934}" type="presOf" srcId="{E2BE79CC-7ADC-4498-BA8A-5A02F5E7CF0B}" destId="{983FAEBD-1A32-4750-B335-F5F961A97CF0}" srcOrd="0" destOrd="0" presId="urn:microsoft.com/office/officeart/2018/2/layout/IconLabelList"/>
    <dgm:cxn modelId="{0AE387C9-FA8D-CE44-BCDF-82BFFACFE226}" type="presOf" srcId="{E432CE4B-D023-418E-9339-E2C8D53EAB0F}" destId="{02B17A83-001F-446F-B398-53AB9C673B75}" srcOrd="0" destOrd="0" presId="urn:microsoft.com/office/officeart/2018/2/layout/IconLabelList"/>
    <dgm:cxn modelId="{C4057EEF-CBFC-44C4-A8A9-E7949749BE50}" srcId="{6BAFF082-7469-44E8-B08E-3411C8E72D58}" destId="{9A15ED74-2D38-4EFC-AC60-F1A80E37DA6B}" srcOrd="2" destOrd="0" parTransId="{4CAC88E0-8B82-4FD3-8A2E-378FD9429C99}" sibTransId="{460AFCD3-8690-4ABD-8EB5-369CE7ED4470}"/>
    <dgm:cxn modelId="{2D1633F0-3E94-3B4E-BE9A-3FF191791D2C}" type="presOf" srcId="{6BAFF082-7469-44E8-B08E-3411C8E72D58}" destId="{3EEB3A46-CFF7-4028-A3AC-6114066E6CBD}" srcOrd="0" destOrd="0" presId="urn:microsoft.com/office/officeart/2018/2/layout/IconLabelList"/>
    <dgm:cxn modelId="{E6B7E99F-C658-4F4C-A77D-7C1282536584}" type="presParOf" srcId="{3EEB3A46-CFF7-4028-A3AC-6114066E6CBD}" destId="{34316EEE-07D9-4F6B-9968-BEC40A1DE9C4}" srcOrd="0" destOrd="0" presId="urn:microsoft.com/office/officeart/2018/2/layout/IconLabelList"/>
    <dgm:cxn modelId="{1031D82B-06E3-0B4C-8B68-828AC50BF652}" type="presParOf" srcId="{34316EEE-07D9-4F6B-9968-BEC40A1DE9C4}" destId="{2499C738-EB96-4ACF-A037-A826C976E7C6}" srcOrd="0" destOrd="0" presId="urn:microsoft.com/office/officeart/2018/2/layout/IconLabelList"/>
    <dgm:cxn modelId="{6A147D67-E3B6-2B47-9BD5-A7D23431AA1D}" type="presParOf" srcId="{34316EEE-07D9-4F6B-9968-BEC40A1DE9C4}" destId="{F00C4F64-1023-4FCC-B4C4-9A523890B785}" srcOrd="1" destOrd="0" presId="urn:microsoft.com/office/officeart/2018/2/layout/IconLabelList"/>
    <dgm:cxn modelId="{B0A1B7BF-DA92-3E49-9A9D-F773C0D87DCE}" type="presParOf" srcId="{34316EEE-07D9-4F6B-9968-BEC40A1DE9C4}" destId="{02B17A83-001F-446F-B398-53AB9C673B75}" srcOrd="2" destOrd="0" presId="urn:microsoft.com/office/officeart/2018/2/layout/IconLabelList"/>
    <dgm:cxn modelId="{602C7BEE-D9A9-0D4F-A02E-9B114866289F}" type="presParOf" srcId="{3EEB3A46-CFF7-4028-A3AC-6114066E6CBD}" destId="{C4D8816E-04FA-4B09-A121-8EF2895968BA}" srcOrd="1" destOrd="0" presId="urn:microsoft.com/office/officeart/2018/2/layout/IconLabelList"/>
    <dgm:cxn modelId="{8ABD0E27-700F-B54E-834A-6758C9490EEC}" type="presParOf" srcId="{3EEB3A46-CFF7-4028-A3AC-6114066E6CBD}" destId="{603CF2D1-F564-4DD9-97F9-CE153945952A}" srcOrd="2" destOrd="0" presId="urn:microsoft.com/office/officeart/2018/2/layout/IconLabelList"/>
    <dgm:cxn modelId="{86D6A94E-777E-4341-9106-FE83F5EA99A2}" type="presParOf" srcId="{603CF2D1-F564-4DD9-97F9-CE153945952A}" destId="{EDC77949-9DBE-416A-B64A-D70829CB8341}" srcOrd="0" destOrd="0" presId="urn:microsoft.com/office/officeart/2018/2/layout/IconLabelList"/>
    <dgm:cxn modelId="{5AB3D41E-A8E8-F847-B98B-606E19532C5A}" type="presParOf" srcId="{603CF2D1-F564-4DD9-97F9-CE153945952A}" destId="{EB0F8D3D-D81E-4E0E-A769-883B332AE74D}" srcOrd="1" destOrd="0" presId="urn:microsoft.com/office/officeart/2018/2/layout/IconLabelList"/>
    <dgm:cxn modelId="{FB2E3242-060B-664D-8E33-C5362754B187}" type="presParOf" srcId="{603CF2D1-F564-4DD9-97F9-CE153945952A}" destId="{983FAEBD-1A32-4750-B335-F5F961A97CF0}" srcOrd="2" destOrd="0" presId="urn:microsoft.com/office/officeart/2018/2/layout/IconLabelList"/>
    <dgm:cxn modelId="{F344DF22-8100-AC43-A368-051297A72772}" type="presParOf" srcId="{3EEB3A46-CFF7-4028-A3AC-6114066E6CBD}" destId="{5EAF5F4D-834E-423C-A03E-CEB40F263D52}" srcOrd="3" destOrd="0" presId="urn:microsoft.com/office/officeart/2018/2/layout/IconLabelList"/>
    <dgm:cxn modelId="{E9F2B800-B1D6-B64F-984B-916D2C724937}" type="presParOf" srcId="{3EEB3A46-CFF7-4028-A3AC-6114066E6CBD}" destId="{5245C7F0-EF08-4576-B0B5-3DED3AE2B7A8}" srcOrd="4" destOrd="0" presId="urn:microsoft.com/office/officeart/2018/2/layout/IconLabelList"/>
    <dgm:cxn modelId="{B992CA5D-BA0C-C945-8202-04030B5BFD76}" type="presParOf" srcId="{5245C7F0-EF08-4576-B0B5-3DED3AE2B7A8}" destId="{50BD5711-165F-4CA5-8886-C55F55B0302C}" srcOrd="0" destOrd="0" presId="urn:microsoft.com/office/officeart/2018/2/layout/IconLabelList"/>
    <dgm:cxn modelId="{D079141D-1093-BF4D-8420-BD324804B0A8}" type="presParOf" srcId="{5245C7F0-EF08-4576-B0B5-3DED3AE2B7A8}" destId="{69794354-5F4F-4D3F-AE5F-F97E0BC34294}" srcOrd="1" destOrd="0" presId="urn:microsoft.com/office/officeart/2018/2/layout/IconLabelList"/>
    <dgm:cxn modelId="{4CEC8880-0F65-4D4C-A7ED-FC0EC3F3AF7D}" type="presParOf" srcId="{5245C7F0-EF08-4576-B0B5-3DED3AE2B7A8}" destId="{23AF3A66-BD78-4E10-9201-746440AC5A3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99C738-EB96-4ACF-A037-A826C976E7C6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B17A83-001F-446F-B398-53AB9C673B75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Llamadas seguras</a:t>
          </a:r>
        </a:p>
      </dsp:txBody>
      <dsp:txXfrm>
        <a:off x="78583" y="2435142"/>
        <a:ext cx="2399612" cy="720000"/>
      </dsp:txXfrm>
    </dsp:sp>
    <dsp:sp modelId="{EDC77949-9DBE-416A-B64A-D70829CB8341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3FAEBD-1A32-4750-B335-F5F961A97CF0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Chat cifrado</a:t>
          </a:r>
        </a:p>
      </dsp:txBody>
      <dsp:txXfrm>
        <a:off x="2898129" y="2435142"/>
        <a:ext cx="2399612" cy="720000"/>
      </dsp:txXfrm>
    </dsp:sp>
    <dsp:sp modelId="{50BD5711-165F-4CA5-8886-C55F55B0302C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AF3A66-BD78-4E10-9201-746440AC5A3C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Distorsionador de voz</a:t>
          </a:r>
        </a:p>
      </dsp:txBody>
      <dsp:txXfrm>
        <a:off x="5717674" y="2435142"/>
        <a:ext cx="239961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95DD46-E374-5240-858A-A771987FE475}" type="datetimeFigureOut">
              <a:rPr lang="es-EC" smtClean="0"/>
              <a:t>3/8/26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D1BECB-868B-2E4B-81A4-C9F14031AF50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56486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D1BECB-868B-2E4B-81A4-C9F14031AF50}" type="slidenum">
              <a:rPr lang="es-EC" smtClean="0"/>
              <a:t>1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66681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Origen de imagen: biblioteca de contenido de Microsoft 365
Privox responde a los desafíos de privacidad con comunicaciones protegidas, chat cifrado y control de acceso a usuarios. Además, integra distorsión de voz para resguardar la identidad y una infraestructura independiente. Así, ofrece un control superior sobre la privacidad, siendo ideal para organizaciones que priorizan la confidencialidad en sus operaciones.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D1BECB-868B-2E4B-81A4-C9F14031AF50}" type="slidenum">
              <a:rPr lang="es-EC" smtClean="0"/>
              <a:t>7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93009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3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" y="320040"/>
            <a:ext cx="5019620" cy="3892669"/>
          </a:xfrm>
        </p:spPr>
        <p:txBody>
          <a:bodyPr>
            <a:normAutofit/>
          </a:bodyPr>
          <a:lstStyle/>
          <a:p>
            <a:pPr algn="l"/>
            <a:r>
              <a:rPr lang="es-EC" sz="5700" dirty="0"/>
              <a:t>PRIVOX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" y="4631161"/>
            <a:ext cx="5019620" cy="1569486"/>
          </a:xfrm>
        </p:spPr>
        <p:txBody>
          <a:bodyPr>
            <a:normAutofit/>
          </a:bodyPr>
          <a:lstStyle/>
          <a:p>
            <a:pPr algn="l"/>
            <a:r>
              <a:rPr lang="es-EC"/>
              <a:t>Plataforma de Comunicación Segura y Privada</a:t>
            </a:r>
          </a:p>
        </p:txBody>
      </p:sp>
      <p:sp>
        <p:nvSpPr>
          <p:cNvPr id="6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5921" y="440926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04711 w 3182692"/>
              <a:gd name="csY1" fmla="*/ 0 h 18288"/>
              <a:gd name="csX2" fmla="*/ 1241250 w 3182692"/>
              <a:gd name="csY2" fmla="*/ 0 h 18288"/>
              <a:gd name="csX3" fmla="*/ 1909615 w 3182692"/>
              <a:gd name="csY3" fmla="*/ 0 h 18288"/>
              <a:gd name="csX4" fmla="*/ 2577981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482500 w 3182692"/>
              <a:gd name="csY7" fmla="*/ 18288 h 18288"/>
              <a:gd name="csX8" fmla="*/ 1782308 w 3182692"/>
              <a:gd name="csY8" fmla="*/ 18288 h 18288"/>
              <a:gd name="csX9" fmla="*/ 1145769 w 3182692"/>
              <a:gd name="csY9" fmla="*/ 18288 h 18288"/>
              <a:gd name="csX10" fmla="*/ 0 w 3182692"/>
              <a:gd name="csY10" fmla="*/ 18288 h 18288"/>
              <a:gd name="csX11" fmla="*/ 0 w 3182692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897D642-C04F-473B-2106-EF8D86680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158" y="1786375"/>
            <a:ext cx="3065526" cy="30487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7324" y="1146412"/>
            <a:ext cx="6760761" cy="240200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Resumen Ejecutivo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6" y="4374554"/>
            <a:ext cx="9144005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105491" y="4374554"/>
            <a:ext cx="3038508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9143988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" y="4380927"/>
            <a:ext cx="9144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7323" y="4892722"/>
            <a:ext cx="4790367" cy="10781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2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Aplicación enfocada en llamadas seguras, chat cifrado y protección de identidad.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0148" y="818984"/>
            <a:ext cx="4947184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¿Qué es Privox?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8905" y="4797188"/>
            <a:ext cx="4538427" cy="124182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Solución móvil para llamadas cifradas, mensajería segura y distorsión de voz en tiempo real.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EC" sz="3500">
                <a:solidFill>
                  <a:srgbClr val="FFFFFF"/>
                </a:solidFill>
              </a:rPr>
              <a:t>Características Principales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4FE94C24-4259-6AF1-2A88-6BFF596101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172329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2A397E7-BF60-45B2-84C7-B074B76C3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Transparent padlock">
            <a:extLst>
              <a:ext uri="{FF2B5EF4-FFF2-40B4-BE49-F238E27FC236}">
                <a16:creationId xmlns:a16="http://schemas.microsoft.com/office/drawing/2014/main" id="{83DCCB8B-46A9-5677-DB49-C23F7828B4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7713" r="35641" b="2"/>
          <a:stretch>
            <a:fillRect/>
          </a:stretch>
        </p:blipFill>
        <p:spPr>
          <a:xfrm>
            <a:off x="3212926" y="10"/>
            <a:ext cx="5931074" cy="685799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497" y="1115219"/>
            <a:ext cx="4129087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>
                <a:solidFill>
                  <a:schemeClr val="bg1"/>
                </a:solidFill>
              </a:rPr>
              <a:t>Ventajas Competitivas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497" y="3902075"/>
            <a:ext cx="4129087" cy="165576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>
                <a:solidFill>
                  <a:schemeClr val="bg1"/>
                </a:solidFill>
              </a:rPr>
              <a:t>Privacidad, seguridad, control de comunicaciones e independencia tecnológica.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6438" y="3681408"/>
            <a:ext cx="895111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18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20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22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9144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24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0040" y="-1133192"/>
            <a:ext cx="6858001" cy="9124385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26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072" y="0"/>
            <a:ext cx="4572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28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9137153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Freeform: Shape 30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784" y="4049"/>
            <a:ext cx="7662432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0019" y="1030406"/>
            <a:ext cx="6110785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Riesgos</a:t>
            </a:r>
            <a:r>
              <a:rPr lang="en-US" sz="4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4200" dirty="0">
                <a:solidFill>
                  <a:srgbClr val="FFFFFF"/>
                </a:solidFill>
              </a:rPr>
              <a:t>n</a:t>
            </a:r>
            <a:r>
              <a:rPr lang="en-US" sz="4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 </a:t>
            </a:r>
            <a:r>
              <a:rPr lang="en-US" sz="4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Utilizar</a:t>
            </a:r>
            <a:r>
              <a:rPr lang="en-US" sz="4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una</a:t>
            </a:r>
            <a:r>
              <a:rPr lang="en-US" sz="4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Solución</a:t>
            </a:r>
            <a:r>
              <a:rPr lang="en-US" sz="4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Segura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9957" y="5171093"/>
            <a:ext cx="6808971" cy="8606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Exposición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información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dependencia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terceros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y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menor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control de </a:t>
            </a:r>
            <a:r>
              <a:rPr lang="en-US" sz="24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datos</a:t>
            </a: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14">
            <a:extLst>
              <a:ext uri="{FF2B5EF4-FFF2-40B4-BE49-F238E27FC236}">
                <a16:creationId xmlns:a16="http://schemas.microsoft.com/office/drawing/2014/main" id="{13844EE9-2895-4B7B-A445-00BA91721B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A7198E-0B0B-7A68-3DD6-90C5C7ECF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514" y="1107860"/>
            <a:ext cx="4385836" cy="10466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Privox: Protección Avanzada</a:t>
            </a:r>
          </a:p>
        </p:txBody>
      </p:sp>
      <p:sp>
        <p:nvSpPr>
          <p:cNvPr id="26" name="Rectangle 16">
            <a:extLst>
              <a:ext uri="{FF2B5EF4-FFF2-40B4-BE49-F238E27FC236}">
                <a16:creationId xmlns:a16="http://schemas.microsoft.com/office/drawing/2014/main" id="{97B03642-7722-4B15-897F-76918F86B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9937"/>
            <a:ext cx="3394204" cy="577812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8">
            <a:extLst>
              <a:ext uri="{FF2B5EF4-FFF2-40B4-BE49-F238E27FC236}">
                <a16:creationId xmlns:a16="http://schemas.microsoft.com/office/drawing/2014/main" id="{6068EAC2-2623-4156-A990-D776FF9BF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9937"/>
            <a:ext cx="9144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pic>
        <p:nvPicPr>
          <p:cNvPr id="5" name="Marcador de contenido 4" descr="Concepto digital que muestra la red abstracta y el concepto de optimización de seguridad y tecnología de internet  ">
            <a:extLst>
              <a:ext uri="{FF2B5EF4-FFF2-40B4-BE49-F238E27FC236}">
                <a16:creationId xmlns:a16="http://schemas.microsoft.com/office/drawing/2014/main" id="{BDA1B4A2-F102-46BF-B6B9-10F0099B171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30484" r="35066"/>
          <a:stretch>
            <a:fillRect/>
          </a:stretch>
        </p:blipFill>
        <p:spPr>
          <a:xfrm>
            <a:off x="320842" y="832282"/>
            <a:ext cx="2752521" cy="5193437"/>
          </a:xfrm>
          <a:prstGeom prst="rect">
            <a:avLst/>
          </a:prstGeom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F0E3A2B-AC1D-1166-2F44-8C6B07DA76A5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129515" y="2402260"/>
            <a:ext cx="4385835" cy="3347879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/>
              <a:t>Comunicaciones protegidas</a:t>
            </a:r>
          </a:p>
          <a:p>
            <a:pPr marL="0" lvl="1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s-EC" sz="1400"/>
              <a:t>Privox permite comunicaciones seguras mediante mecanismos cifrados, protegiendo la información intercambiada entre usuarios y evitando filtraciones.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/>
              <a:t>Chat cifrado y acceso controlado</a:t>
            </a:r>
          </a:p>
          <a:p>
            <a:pPr marL="0" lvl="1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s-EC" sz="1400"/>
              <a:t>El chat cifrado y el control de acceso a usuarios garantizan que solo personas autorizadas pueden participar en conversaciones confidenciales.</a:t>
            </a:r>
          </a:p>
          <a:p>
            <a:pPr marL="0" indent="0">
              <a:lnSpc>
                <a:spcPct val="9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s-EC" sz="1400" b="1"/>
              <a:t>Distorsión de voz e infraestructura independiente</a:t>
            </a:r>
          </a:p>
          <a:p>
            <a:pPr marL="0" lvl="1" indent="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s-EC" sz="1400"/>
              <a:t>La distorsión de voz resguarda la identidad del usuario y la infraestructura independiente aumenta la protección ante amenazas externas.</a:t>
            </a:r>
          </a:p>
        </p:txBody>
      </p:sp>
      <p:sp>
        <p:nvSpPr>
          <p:cNvPr id="28" name="Rectangle 20">
            <a:extLst>
              <a:ext uri="{FF2B5EF4-FFF2-40B4-BE49-F238E27FC236}">
                <a16:creationId xmlns:a16="http://schemas.microsoft.com/office/drawing/2014/main" id="{4C707BC9-731A-490A-AF25-6F349FD9B0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54055"/>
            <a:ext cx="9144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3FD7C480-AC7D-4FEE-BB95-EEE23BB3E6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8800" y="3404998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45303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2" name="Rectangle 1051">
            <a:extLst>
              <a:ext uri="{FF2B5EF4-FFF2-40B4-BE49-F238E27FC236}">
                <a16:creationId xmlns:a16="http://schemas.microsoft.com/office/drawing/2014/main" id="{D880886B-02ED-4317-9236-CB60C22CF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4419600"/>
            <a:ext cx="8181594" cy="12039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Limitaciones Actuales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5669280"/>
            <a:ext cx="8181594" cy="5486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Disponible actualmente para dispositivos Android y requiere conexión a internet.</a:t>
            </a:r>
          </a:p>
        </p:txBody>
      </p:sp>
      <p:pic>
        <p:nvPicPr>
          <p:cNvPr id="5" name="Picture 4" descr="Mobile device with apps">
            <a:extLst>
              <a:ext uri="{FF2B5EF4-FFF2-40B4-BE49-F238E27FC236}">
                <a16:creationId xmlns:a16="http://schemas.microsoft.com/office/drawing/2014/main" id="{86683322-7A58-6BB7-A51A-47F4610DA6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691" r="2" b="2"/>
          <a:stretch>
            <a:fillRect/>
          </a:stretch>
        </p:blipFill>
        <p:spPr>
          <a:xfrm>
            <a:off x="4" y="-11"/>
            <a:ext cx="4571996" cy="4194796"/>
          </a:xfrm>
          <a:custGeom>
            <a:avLst/>
            <a:gdLst/>
            <a:ahLst/>
            <a:cxnLst/>
            <a:rect l="l" t="t" r="r" b="b"/>
            <a:pathLst>
              <a:path w="6002835" h="4194796">
                <a:moveTo>
                  <a:pt x="0" y="0"/>
                </a:moveTo>
                <a:lnTo>
                  <a:pt x="5999418" y="0"/>
                </a:lnTo>
                <a:lnTo>
                  <a:pt x="5996190" y="32760"/>
                </a:lnTo>
                <a:cubicBezTo>
                  <a:pt x="5998706" y="293110"/>
                  <a:pt x="5983874" y="553460"/>
                  <a:pt x="5997116" y="813682"/>
                </a:cubicBezTo>
                <a:cubicBezTo>
                  <a:pt x="6007314" y="1015047"/>
                  <a:pt x="6000824" y="1216284"/>
                  <a:pt x="5997116" y="1417522"/>
                </a:cubicBezTo>
                <a:cubicBezTo>
                  <a:pt x="5989967" y="1803471"/>
                  <a:pt x="6000824" y="2188911"/>
                  <a:pt x="5996190" y="2574351"/>
                </a:cubicBezTo>
                <a:cubicBezTo>
                  <a:pt x="5994204" y="2745205"/>
                  <a:pt x="5996454" y="2915805"/>
                  <a:pt x="6000824" y="3086660"/>
                </a:cubicBezTo>
                <a:cubicBezTo>
                  <a:pt x="6007180" y="3330611"/>
                  <a:pt x="5997382" y="3574689"/>
                  <a:pt x="5986656" y="3818514"/>
                </a:cubicBezTo>
                <a:cubicBezTo>
                  <a:pt x="5983054" y="3885559"/>
                  <a:pt x="5982107" y="3952684"/>
                  <a:pt x="5983808" y="4019746"/>
                </a:cubicBezTo>
                <a:lnTo>
                  <a:pt x="5993788" y="4173418"/>
                </a:lnTo>
                <a:lnTo>
                  <a:pt x="5955106" y="4175101"/>
                </a:lnTo>
                <a:cubicBezTo>
                  <a:pt x="5890100" y="4175133"/>
                  <a:pt x="5825078" y="4173227"/>
                  <a:pt x="5760087" y="4171956"/>
                </a:cubicBezTo>
                <a:cubicBezTo>
                  <a:pt x="5521345" y="4167509"/>
                  <a:pt x="5282477" y="4171956"/>
                  <a:pt x="5044242" y="4149213"/>
                </a:cubicBezTo>
                <a:cubicBezTo>
                  <a:pt x="4979506" y="4143051"/>
                  <a:pt x="4914326" y="4139111"/>
                  <a:pt x="4849272" y="4139890"/>
                </a:cubicBezTo>
                <a:cubicBezTo>
                  <a:pt x="4784218" y="4140668"/>
                  <a:pt x="4719291" y="4146163"/>
                  <a:pt x="4655063" y="4158869"/>
                </a:cubicBezTo>
                <a:cubicBezTo>
                  <a:pt x="4447578" y="4199146"/>
                  <a:pt x="4239457" y="4201688"/>
                  <a:pt x="4029811" y="4185424"/>
                </a:cubicBezTo>
                <a:cubicBezTo>
                  <a:pt x="3943792" y="4178690"/>
                  <a:pt x="3857774" y="4167509"/>
                  <a:pt x="3771375" y="4169669"/>
                </a:cubicBezTo>
                <a:cubicBezTo>
                  <a:pt x="3623225" y="4173608"/>
                  <a:pt x="3474948" y="4165603"/>
                  <a:pt x="3326672" y="4167636"/>
                </a:cubicBezTo>
                <a:cubicBezTo>
                  <a:pt x="3322669" y="4168208"/>
                  <a:pt x="3318578" y="4167674"/>
                  <a:pt x="3314855" y="4166111"/>
                </a:cubicBezTo>
                <a:cubicBezTo>
                  <a:pt x="3278008" y="4140827"/>
                  <a:pt x="3237604" y="4150610"/>
                  <a:pt x="3199487" y="4157217"/>
                </a:cubicBezTo>
                <a:cubicBezTo>
                  <a:pt x="3072810" y="4179198"/>
                  <a:pt x="2946260" y="4189998"/>
                  <a:pt x="2817550" y="4172972"/>
                </a:cubicBezTo>
                <a:cubicBezTo>
                  <a:pt x="2694647" y="4155146"/>
                  <a:pt x="2569990" y="4152923"/>
                  <a:pt x="2446541" y="4166365"/>
                </a:cubicBezTo>
                <a:cubicBezTo>
                  <a:pt x="2276791" y="4186186"/>
                  <a:pt x="2107677" y="4181993"/>
                  <a:pt x="1938308" y="4166365"/>
                </a:cubicBezTo>
                <a:cubicBezTo>
                  <a:pt x="1869570" y="4160013"/>
                  <a:pt x="1799815" y="4149213"/>
                  <a:pt x="1731712" y="4165095"/>
                </a:cubicBezTo>
                <a:cubicBezTo>
                  <a:pt x="1647854" y="4184535"/>
                  <a:pt x="1564250" y="4178182"/>
                  <a:pt x="1480137" y="4173862"/>
                </a:cubicBezTo>
                <a:cubicBezTo>
                  <a:pt x="1373663" y="4168271"/>
                  <a:pt x="1267442" y="4152135"/>
                  <a:pt x="1160586" y="4164841"/>
                </a:cubicBezTo>
                <a:cubicBezTo>
                  <a:pt x="1111161" y="4170685"/>
                  <a:pt x="1062116" y="4179961"/>
                  <a:pt x="1012055" y="4177547"/>
                </a:cubicBezTo>
                <a:cubicBezTo>
                  <a:pt x="873562" y="4171194"/>
                  <a:pt x="735196" y="4163697"/>
                  <a:pt x="596449" y="4164841"/>
                </a:cubicBezTo>
                <a:cubicBezTo>
                  <a:pt x="538383" y="4165222"/>
                  <a:pt x="480699" y="4167128"/>
                  <a:pt x="422887" y="4171321"/>
                </a:cubicBezTo>
                <a:cubicBezTo>
                  <a:pt x="315015" y="4179198"/>
                  <a:pt x="207524" y="4168525"/>
                  <a:pt x="100033" y="4164714"/>
                </a:cubicBezTo>
                <a:lnTo>
                  <a:pt x="0" y="4169195"/>
                </a:lnTo>
                <a:close/>
              </a:path>
            </a:pathLst>
          </a:custGeom>
        </p:spPr>
      </p:pic>
      <p:pic>
        <p:nvPicPr>
          <p:cNvPr id="1026" name="Picture 2" descr="Google soluciona 101 vulnerabilidades en Android - Una Al Día">
            <a:extLst>
              <a:ext uri="{FF2B5EF4-FFF2-40B4-BE49-F238E27FC236}">
                <a16:creationId xmlns:a16="http://schemas.microsoft.com/office/drawing/2014/main" id="{FEB1B8E4-6833-9FC0-1642-D5643DE9CA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0" t="1" r="9111" b="25923"/>
          <a:stretch>
            <a:fillRect/>
          </a:stretch>
        </p:blipFill>
        <p:spPr bwMode="auto">
          <a:xfrm>
            <a:off x="4590239" y="12"/>
            <a:ext cx="4447655" cy="3982441"/>
          </a:xfrm>
          <a:custGeom>
            <a:avLst/>
            <a:gdLst/>
            <a:ahLst/>
            <a:cxnLst/>
            <a:rect l="l" t="t" r="r" b="b"/>
            <a:pathLst>
              <a:path w="6009490" h="4186171">
                <a:moveTo>
                  <a:pt x="9049" y="0"/>
                </a:moveTo>
                <a:lnTo>
                  <a:pt x="6009490" y="0"/>
                </a:lnTo>
                <a:lnTo>
                  <a:pt x="6009490" y="4168273"/>
                </a:lnTo>
                <a:lnTo>
                  <a:pt x="5803951" y="4172925"/>
                </a:lnTo>
                <a:cubicBezTo>
                  <a:pt x="5729787" y="4171950"/>
                  <a:pt x="5655658" y="4168322"/>
                  <a:pt x="5581704" y="4162045"/>
                </a:cubicBezTo>
                <a:cubicBezTo>
                  <a:pt x="5474340" y="4154041"/>
                  <a:pt x="5366086" y="4142987"/>
                  <a:pt x="5259485" y="4163316"/>
                </a:cubicBezTo>
                <a:cubicBezTo>
                  <a:pt x="5142465" y="4185805"/>
                  <a:pt x="5025571" y="4185932"/>
                  <a:pt x="4907534" y="4180215"/>
                </a:cubicBezTo>
                <a:cubicBezTo>
                  <a:pt x="4806650" y="4175387"/>
                  <a:pt x="4706147" y="4149975"/>
                  <a:pt x="4604501" y="4176784"/>
                </a:cubicBezTo>
                <a:cubicBezTo>
                  <a:pt x="4594387" y="4178258"/>
                  <a:pt x="4584082" y="4177826"/>
                  <a:pt x="4574133" y="4175514"/>
                </a:cubicBezTo>
                <a:cubicBezTo>
                  <a:pt x="4462958" y="4160140"/>
                  <a:pt x="4351020" y="4172718"/>
                  <a:pt x="4239463" y="4168398"/>
                </a:cubicBezTo>
                <a:cubicBezTo>
                  <a:pt x="4188005" y="4166365"/>
                  <a:pt x="4135530" y="4167509"/>
                  <a:pt x="4084706" y="4162045"/>
                </a:cubicBezTo>
                <a:cubicBezTo>
                  <a:pt x="3968067" y="4149594"/>
                  <a:pt x="3851682" y="4142987"/>
                  <a:pt x="3736314" y="4172337"/>
                </a:cubicBezTo>
                <a:cubicBezTo>
                  <a:pt x="3702643" y="4180253"/>
                  <a:pt x="3668235" y="4184509"/>
                  <a:pt x="3633650" y="4185043"/>
                </a:cubicBezTo>
                <a:cubicBezTo>
                  <a:pt x="3520696" y="4189109"/>
                  <a:pt x="3408122" y="4181358"/>
                  <a:pt x="3295549" y="4175005"/>
                </a:cubicBezTo>
                <a:cubicBezTo>
                  <a:pt x="3217408" y="4170558"/>
                  <a:pt x="3139394" y="4160902"/>
                  <a:pt x="3061127" y="4169034"/>
                </a:cubicBezTo>
                <a:cubicBezTo>
                  <a:pt x="3015640" y="4173735"/>
                  <a:pt x="2969772" y="4173735"/>
                  <a:pt x="2924285" y="4169034"/>
                </a:cubicBezTo>
                <a:cubicBezTo>
                  <a:pt x="2840452" y="4159212"/>
                  <a:pt x="2755870" y="4157382"/>
                  <a:pt x="2671694" y="4163570"/>
                </a:cubicBezTo>
                <a:cubicBezTo>
                  <a:pt x="2546033" y="4174370"/>
                  <a:pt x="2420500" y="4183391"/>
                  <a:pt x="2294459" y="4166238"/>
                </a:cubicBezTo>
                <a:cubicBezTo>
                  <a:pt x="2222976" y="4155006"/>
                  <a:pt x="2150298" y="4153685"/>
                  <a:pt x="2078460" y="4162300"/>
                </a:cubicBezTo>
                <a:cubicBezTo>
                  <a:pt x="1907313" y="4186314"/>
                  <a:pt x="1735785" y="4178563"/>
                  <a:pt x="1564257" y="4168653"/>
                </a:cubicBezTo>
                <a:cubicBezTo>
                  <a:pt x="1449650" y="4161918"/>
                  <a:pt x="1334536" y="4149594"/>
                  <a:pt x="1220183" y="4165857"/>
                </a:cubicBezTo>
                <a:cubicBezTo>
                  <a:pt x="1074321" y="4186186"/>
                  <a:pt x="928331" y="4179452"/>
                  <a:pt x="782087" y="4173481"/>
                </a:cubicBezTo>
                <a:cubicBezTo>
                  <a:pt x="674723" y="4169034"/>
                  <a:pt x="567232" y="4155565"/>
                  <a:pt x="459614" y="4172210"/>
                </a:cubicBezTo>
                <a:cubicBezTo>
                  <a:pt x="448535" y="4173722"/>
                  <a:pt x="437265" y="4172591"/>
                  <a:pt x="426706" y="4168907"/>
                </a:cubicBezTo>
                <a:cubicBezTo>
                  <a:pt x="385869" y="4155464"/>
                  <a:pt x="342085" y="4153660"/>
                  <a:pt x="300283" y="4163697"/>
                </a:cubicBezTo>
                <a:cubicBezTo>
                  <a:pt x="223159" y="4180596"/>
                  <a:pt x="146162" y="4187965"/>
                  <a:pt x="67640" y="4172591"/>
                </a:cubicBezTo>
                <a:lnTo>
                  <a:pt x="14015" y="4169393"/>
                </a:lnTo>
                <a:lnTo>
                  <a:pt x="28554" y="3856095"/>
                </a:lnTo>
                <a:cubicBezTo>
                  <a:pt x="30458" y="3735660"/>
                  <a:pt x="27412" y="3615306"/>
                  <a:pt x="15626" y="3495237"/>
                </a:cubicBezTo>
                <a:cubicBezTo>
                  <a:pt x="-847" y="3348740"/>
                  <a:pt x="-4304" y="3201174"/>
                  <a:pt x="5296" y="3054118"/>
                </a:cubicBezTo>
                <a:cubicBezTo>
                  <a:pt x="11786" y="2969961"/>
                  <a:pt x="18539" y="2885804"/>
                  <a:pt x="22776" y="2801522"/>
                </a:cubicBezTo>
                <a:cubicBezTo>
                  <a:pt x="28180" y="2681630"/>
                  <a:pt x="25173" y="2561524"/>
                  <a:pt x="13771" y="2442014"/>
                </a:cubicBezTo>
                <a:cubicBezTo>
                  <a:pt x="4237" y="2350879"/>
                  <a:pt x="3177" y="2259120"/>
                  <a:pt x="10593" y="2167807"/>
                </a:cubicBezTo>
                <a:cubicBezTo>
                  <a:pt x="25690" y="2012336"/>
                  <a:pt x="9931" y="1856863"/>
                  <a:pt x="5032" y="1701516"/>
                </a:cubicBezTo>
                <a:cubicBezTo>
                  <a:pt x="-3577" y="1415742"/>
                  <a:pt x="20393" y="1130095"/>
                  <a:pt x="9666" y="844320"/>
                </a:cubicBezTo>
                <a:cubicBezTo>
                  <a:pt x="3841" y="702958"/>
                  <a:pt x="16420" y="561723"/>
                  <a:pt x="9666" y="420361"/>
                </a:cubicBezTo>
                <a:cubicBezTo>
                  <a:pt x="4105" y="319805"/>
                  <a:pt x="397" y="219250"/>
                  <a:pt x="4105" y="118568"/>
                </a:cubicBezTo>
                <a:cubicBezTo>
                  <a:pt x="5164" y="91109"/>
                  <a:pt x="5826" y="63523"/>
                  <a:pt x="9534" y="36446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7" name="sketch line">
            <a:extLst>
              <a:ext uri="{FF2B5EF4-FFF2-40B4-BE49-F238E27FC236}">
                <a16:creationId xmlns:a16="http://schemas.microsoft.com/office/drawing/2014/main" id="{28C31856-6ABF-41FD-B683-B06E5FFF9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7560" y="5598439"/>
            <a:ext cx="2468880" cy="18288"/>
          </a:xfrm>
          <a:custGeom>
            <a:avLst/>
            <a:gdLst>
              <a:gd name="csX0" fmla="*/ 0 w 2468880"/>
              <a:gd name="csY0" fmla="*/ 0 h 18288"/>
              <a:gd name="csX1" fmla="*/ 592531 w 2468880"/>
              <a:gd name="csY1" fmla="*/ 0 h 18288"/>
              <a:gd name="csX2" fmla="*/ 1160374 w 2468880"/>
              <a:gd name="csY2" fmla="*/ 0 h 18288"/>
              <a:gd name="csX3" fmla="*/ 1728216 w 2468880"/>
              <a:gd name="csY3" fmla="*/ 0 h 18288"/>
              <a:gd name="csX4" fmla="*/ 2468880 w 2468880"/>
              <a:gd name="csY4" fmla="*/ 0 h 18288"/>
              <a:gd name="csX5" fmla="*/ 2468880 w 2468880"/>
              <a:gd name="csY5" fmla="*/ 18288 h 18288"/>
              <a:gd name="csX6" fmla="*/ 1802282 w 2468880"/>
              <a:gd name="csY6" fmla="*/ 18288 h 18288"/>
              <a:gd name="csX7" fmla="*/ 1209751 w 2468880"/>
              <a:gd name="csY7" fmla="*/ 18288 h 18288"/>
              <a:gd name="csX8" fmla="*/ 641909 w 2468880"/>
              <a:gd name="csY8" fmla="*/ 18288 h 18288"/>
              <a:gd name="csX9" fmla="*/ 0 w 2468880"/>
              <a:gd name="csY9" fmla="*/ 18288 h 18288"/>
              <a:gd name="csX10" fmla="*/ 0 w 246888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68880" h="18288" fill="none" extrusionOk="0">
                <a:moveTo>
                  <a:pt x="0" y="0"/>
                </a:moveTo>
                <a:cubicBezTo>
                  <a:pt x="171523" y="-1510"/>
                  <a:pt x="416079" y="20036"/>
                  <a:pt x="592531" y="0"/>
                </a:cubicBezTo>
                <a:cubicBezTo>
                  <a:pt x="768983" y="-20036"/>
                  <a:pt x="878305" y="13110"/>
                  <a:pt x="1160374" y="0"/>
                </a:cubicBezTo>
                <a:cubicBezTo>
                  <a:pt x="1442443" y="-13110"/>
                  <a:pt x="1612108" y="24695"/>
                  <a:pt x="1728216" y="0"/>
                </a:cubicBezTo>
                <a:cubicBezTo>
                  <a:pt x="1844324" y="-24695"/>
                  <a:pt x="2271040" y="20667"/>
                  <a:pt x="2468880" y="0"/>
                </a:cubicBezTo>
                <a:cubicBezTo>
                  <a:pt x="2468302" y="4771"/>
                  <a:pt x="2469633" y="12323"/>
                  <a:pt x="2468880" y="18288"/>
                </a:cubicBezTo>
                <a:cubicBezTo>
                  <a:pt x="2229297" y="-14659"/>
                  <a:pt x="2066775" y="30253"/>
                  <a:pt x="1802282" y="18288"/>
                </a:cubicBezTo>
                <a:cubicBezTo>
                  <a:pt x="1537789" y="6323"/>
                  <a:pt x="1379930" y="22266"/>
                  <a:pt x="1209751" y="18288"/>
                </a:cubicBezTo>
                <a:cubicBezTo>
                  <a:pt x="1039572" y="14310"/>
                  <a:pt x="837025" y="12850"/>
                  <a:pt x="641909" y="18288"/>
                </a:cubicBezTo>
                <a:cubicBezTo>
                  <a:pt x="446793" y="23726"/>
                  <a:pt x="170561" y="18472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468880" h="18288" stroke="0" extrusionOk="0">
                <a:moveTo>
                  <a:pt x="0" y="0"/>
                </a:moveTo>
                <a:cubicBezTo>
                  <a:pt x="190931" y="24910"/>
                  <a:pt x="333688" y="11559"/>
                  <a:pt x="567842" y="0"/>
                </a:cubicBezTo>
                <a:cubicBezTo>
                  <a:pt x="801996" y="-11559"/>
                  <a:pt x="939971" y="-5677"/>
                  <a:pt x="1234440" y="0"/>
                </a:cubicBezTo>
                <a:cubicBezTo>
                  <a:pt x="1528909" y="5677"/>
                  <a:pt x="1658539" y="5184"/>
                  <a:pt x="1777594" y="0"/>
                </a:cubicBezTo>
                <a:cubicBezTo>
                  <a:pt x="1896649" y="-5184"/>
                  <a:pt x="2186164" y="23915"/>
                  <a:pt x="2468880" y="0"/>
                </a:cubicBezTo>
                <a:cubicBezTo>
                  <a:pt x="2468266" y="8857"/>
                  <a:pt x="2469384" y="13619"/>
                  <a:pt x="2468880" y="18288"/>
                </a:cubicBezTo>
                <a:cubicBezTo>
                  <a:pt x="2271330" y="36599"/>
                  <a:pt x="2001027" y="31554"/>
                  <a:pt x="1876349" y="18288"/>
                </a:cubicBezTo>
                <a:cubicBezTo>
                  <a:pt x="1751671" y="5022"/>
                  <a:pt x="1364652" y="15063"/>
                  <a:pt x="1209751" y="18288"/>
                </a:cubicBezTo>
                <a:cubicBezTo>
                  <a:pt x="1054850" y="21513"/>
                  <a:pt x="748438" y="20074"/>
                  <a:pt x="617220" y="18288"/>
                </a:cubicBezTo>
                <a:cubicBezTo>
                  <a:pt x="486002" y="16502"/>
                  <a:pt x="237432" y="27200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4469056-D581-421C-80DD-CCE96ECB3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276A54DD-7E68-43B8-A73D-2B9A1AE31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355598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DC4FCB98-21F5-1B47-0693-0D5D44143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5959" y="381000"/>
            <a:ext cx="5224839" cy="1968373"/>
          </a:xfrm>
        </p:spPr>
        <p:txBody>
          <a:bodyPr anchor="ctr">
            <a:normAutofit/>
          </a:bodyPr>
          <a:lstStyle/>
          <a:p>
            <a:r>
              <a:rPr lang="en-US" sz="1900" dirty="0" err="1"/>
              <a:t>Llamadas</a:t>
            </a:r>
            <a:r>
              <a:rPr lang="en-US" sz="1900" dirty="0"/>
              <a:t> </a:t>
            </a:r>
            <a:r>
              <a:rPr lang="en-US" sz="1900" dirty="0" err="1"/>
              <a:t>seguras</a:t>
            </a:r>
            <a:endParaRPr lang="en-US" sz="1900" dirty="0"/>
          </a:p>
          <a:p>
            <a:r>
              <a:rPr lang="en-US" sz="1900" dirty="0" err="1"/>
              <a:t>Usuarios</a:t>
            </a:r>
            <a:r>
              <a:rPr lang="en-US" sz="1900" dirty="0"/>
              <a:t> incognitos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72CCAEF-F15E-A1B6-C71E-DD6703C0D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633" y="2610545"/>
            <a:ext cx="1624175" cy="360928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9607970-8E7B-8781-B419-096395622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057" y="2610545"/>
            <a:ext cx="1624175" cy="360928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3EEEB0C-3F4E-1061-51A5-D30862A510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339" y="2610545"/>
            <a:ext cx="1624175" cy="360928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68336ED-E623-56D1-91B0-E431634A42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5191" y="2610545"/>
            <a:ext cx="1624175" cy="360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37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3">
            <a:extLst>
              <a:ext uri="{FF2B5EF4-FFF2-40B4-BE49-F238E27FC236}">
                <a16:creationId xmlns:a16="http://schemas.microsoft.com/office/drawing/2014/main" id="{2DAA6C16-BF9B-4A3E-BC70-EE6015D4F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EE2A1B51-A617-A9BE-5525-1DA3E64784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19926"/>
          <a:stretch>
            <a:fillRect/>
          </a:stretch>
        </p:blipFill>
        <p:spPr>
          <a:xfrm>
            <a:off x="-3" y="10"/>
            <a:ext cx="2214562" cy="3940619"/>
          </a:xfrm>
          <a:custGeom>
            <a:avLst/>
            <a:gdLst/>
            <a:ahLst/>
            <a:cxnLst/>
            <a:rect l="l" t="t" r="r" b="b"/>
            <a:pathLst>
              <a:path w="2952750" h="3940629">
                <a:moveTo>
                  <a:pt x="0" y="0"/>
                </a:moveTo>
                <a:lnTo>
                  <a:pt x="2952750" y="0"/>
                </a:lnTo>
                <a:lnTo>
                  <a:pt x="2952749" y="3847994"/>
                </a:lnTo>
                <a:lnTo>
                  <a:pt x="0" y="3940629"/>
                </a:lnTo>
                <a:close/>
              </a:path>
            </a:pathLst>
          </a:cu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23C919F-43AE-CD3F-55E4-DDA52A76EA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" b="19326"/>
          <a:stretch>
            <a:fillRect/>
          </a:stretch>
        </p:blipFill>
        <p:spPr>
          <a:xfrm>
            <a:off x="2357439" y="10"/>
            <a:ext cx="2143125" cy="3842008"/>
          </a:xfrm>
          <a:custGeom>
            <a:avLst/>
            <a:gdLst/>
            <a:ahLst/>
            <a:cxnLst/>
            <a:rect l="l" t="t" r="r" b="b"/>
            <a:pathLst>
              <a:path w="2857499" h="3842018">
                <a:moveTo>
                  <a:pt x="0" y="0"/>
                </a:moveTo>
                <a:lnTo>
                  <a:pt x="2857499" y="0"/>
                </a:lnTo>
                <a:lnTo>
                  <a:pt x="2857499" y="3799815"/>
                </a:lnTo>
                <a:lnTo>
                  <a:pt x="2408465" y="3766458"/>
                </a:lnTo>
                <a:lnTo>
                  <a:pt x="0" y="3842018"/>
                </a:lnTo>
                <a:close/>
              </a:path>
            </a:pathLst>
          </a:cu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2570682-1B8D-8970-A78E-B0A705AE28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2" b="15458"/>
          <a:stretch>
            <a:fillRect/>
          </a:stretch>
        </p:blipFill>
        <p:spPr>
          <a:xfrm>
            <a:off x="4643438" y="10"/>
            <a:ext cx="2143124" cy="4026227"/>
          </a:xfrm>
          <a:custGeom>
            <a:avLst/>
            <a:gdLst/>
            <a:ahLst/>
            <a:cxnLst/>
            <a:rect l="l" t="t" r="r" b="b"/>
            <a:pathLst>
              <a:path w="2857499" h="4026237">
                <a:moveTo>
                  <a:pt x="0" y="0"/>
                </a:moveTo>
                <a:lnTo>
                  <a:pt x="2857499" y="0"/>
                </a:lnTo>
                <a:lnTo>
                  <a:pt x="2857499" y="4026237"/>
                </a:lnTo>
                <a:lnTo>
                  <a:pt x="0" y="3813966"/>
                </a:lnTo>
                <a:close/>
              </a:path>
            </a:pathLst>
          </a:cu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A9644CD-AE7B-5FCA-1A85-68A71D4AEF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1" b="17714"/>
          <a:stretch>
            <a:fillRect/>
          </a:stretch>
        </p:blipFill>
        <p:spPr>
          <a:xfrm>
            <a:off x="6929436" y="10"/>
            <a:ext cx="2214564" cy="4049475"/>
          </a:xfrm>
          <a:custGeom>
            <a:avLst/>
            <a:gdLst/>
            <a:ahLst/>
            <a:cxnLst/>
            <a:rect l="l" t="t" r="r" b="b"/>
            <a:pathLst>
              <a:path w="2952751" h="4049485">
                <a:moveTo>
                  <a:pt x="0" y="0"/>
                </a:moveTo>
                <a:lnTo>
                  <a:pt x="2952751" y="0"/>
                </a:lnTo>
                <a:lnTo>
                  <a:pt x="2952750" y="3940629"/>
                </a:lnTo>
                <a:lnTo>
                  <a:pt x="122465" y="4049485"/>
                </a:lnTo>
                <a:lnTo>
                  <a:pt x="0" y="4040388"/>
                </a:lnTo>
                <a:close/>
              </a:path>
            </a:pathLst>
          </a:cu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31655B4F-4050-4B1F-82A8-180E74CF9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9144000" cy="757168"/>
            <a:chOff x="0" y="2959818"/>
            <a:chExt cx="12192000" cy="757168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EA4C97B-84C4-4658-A6D6-600CB62B4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4FE591E-19B9-480D-9B26-EB96D70C2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6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74C4297-DDAF-765F-1121-DD80F26D8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8150" y="4766266"/>
            <a:ext cx="4269581" cy="1080000"/>
          </a:xfrm>
        </p:spPr>
        <p:txBody>
          <a:bodyPr>
            <a:normAutofit/>
          </a:bodyPr>
          <a:lstStyle/>
          <a:p>
            <a:r>
              <a:rPr lang="en-US" sz="2100" dirty="0" err="1">
                <a:solidFill>
                  <a:schemeClr val="bg1">
                    <a:alpha val="80000"/>
                  </a:schemeClr>
                </a:solidFill>
              </a:rPr>
              <a:t>Mensajes</a:t>
            </a:r>
            <a:r>
              <a:rPr lang="en-US" sz="21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100" dirty="0" err="1">
                <a:solidFill>
                  <a:schemeClr val="bg1">
                    <a:alpha val="80000"/>
                  </a:schemeClr>
                </a:solidFill>
              </a:rPr>
              <a:t>seguros</a:t>
            </a:r>
            <a:r>
              <a:rPr lang="en-US" sz="2100" dirty="0">
                <a:solidFill>
                  <a:schemeClr val="bg1">
                    <a:alpha val="80000"/>
                  </a:schemeClr>
                </a:solidFill>
              </a:rPr>
              <a:t> </a:t>
            </a:r>
          </a:p>
          <a:p>
            <a:r>
              <a:rPr lang="en-US" sz="2100" dirty="0" err="1">
                <a:solidFill>
                  <a:schemeClr val="bg1">
                    <a:alpha val="80000"/>
                  </a:schemeClr>
                </a:solidFill>
              </a:rPr>
              <a:t>distorsionador</a:t>
            </a:r>
            <a:r>
              <a:rPr lang="en-US" sz="2100" dirty="0">
                <a:solidFill>
                  <a:schemeClr val="bg1">
                    <a:alpha val="80000"/>
                  </a:schemeClr>
                </a:solidFill>
              </a:rPr>
              <a:t> de </a:t>
            </a:r>
            <a:r>
              <a:rPr lang="en-US" sz="2100" dirty="0" err="1">
                <a:solidFill>
                  <a:schemeClr val="bg1">
                    <a:alpha val="80000"/>
                  </a:schemeClr>
                </a:solidFill>
              </a:rPr>
              <a:t>voz</a:t>
            </a:r>
            <a:endParaRPr lang="en-US" sz="2100" dirty="0">
              <a:solidFill>
                <a:schemeClr val="bg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4786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256</Words>
  <Application>Microsoft Macintosh PowerPoint</Application>
  <PresentationFormat>Presentación en pantalla (4:3)</PresentationFormat>
  <Paragraphs>30</Paragraphs>
  <Slides>10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PRIVOX</vt:lpstr>
      <vt:lpstr>Resumen Ejecutivo</vt:lpstr>
      <vt:lpstr>¿Qué es Privox?</vt:lpstr>
      <vt:lpstr>Características Principales</vt:lpstr>
      <vt:lpstr>Ventajas Competitivas</vt:lpstr>
      <vt:lpstr>Riesgos de no Utilizar una Solución Segura</vt:lpstr>
      <vt:lpstr>Privox: Protección Avanzada</vt:lpstr>
      <vt:lpstr>Limitaciones Actuales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William Anchundia Soza</cp:lastModifiedBy>
  <cp:revision>3</cp:revision>
  <dcterms:created xsi:type="dcterms:W3CDTF">2013-01-27T09:14:16Z</dcterms:created>
  <dcterms:modified xsi:type="dcterms:W3CDTF">2026-08-03T17:26:04Z</dcterms:modified>
  <cp:category/>
</cp:coreProperties>
</file>